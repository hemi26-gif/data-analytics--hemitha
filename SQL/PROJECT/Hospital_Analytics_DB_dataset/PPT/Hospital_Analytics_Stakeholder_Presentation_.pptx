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43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B2A4A"/>
                </a:solidFill>
                <a:latin typeface="Calibri"/>
              </a:rPr>
              <a:t>Revenue, Collections &amp; Cost (₹ million)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₹ million</c:v>
                </c:pt>
              </c:strCache>
            </c:strRef>
          </c:tx>
          <c:spPr>
            <a:solidFill>
              <a:srgbClr val="1B2A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B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8B1-460A-B11B-39CEFB2E3FB3}"/>
              </c:ext>
            </c:extLst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8B1-460A-B11B-39CEFB2E3FB3}"/>
              </c:ext>
            </c:extLst>
          </c:dPt>
          <c:dPt>
            <c:idx val="2"/>
            <c:invertIfNegative val="0"/>
            <c:bubble3D val="0"/>
            <c:spPr>
              <a:solidFill>
                <a:srgbClr val="8FA3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8B1-460A-B11B-39CEFB2E3FB3}"/>
              </c:ext>
            </c:extLst>
          </c:dPt>
          <c:dPt>
            <c:idx val="3"/>
            <c:invertIfNegative val="0"/>
            <c:bubble3D val="0"/>
            <c:spPr>
              <a:solidFill>
                <a:srgbClr val="B7CB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8B1-460A-B11B-39CEFB2E3FB3}"/>
              </c:ext>
            </c:extLst>
          </c:dPt>
          <c:dPt>
            <c:idx val="4"/>
            <c:invertIfNegative val="0"/>
            <c:bubble3D val="0"/>
            <c:spPr>
              <a:solidFill>
                <a:srgbClr val="E860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8B1-460A-B11B-39CEFB2E3FB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Billing value</c:v>
                </c:pt>
                <c:pt idx="1">
                  <c:v>Payments collected</c:v>
                </c:pt>
                <c:pt idx="2">
                  <c:v>Lab revenue</c:v>
                </c:pt>
                <c:pt idx="3">
                  <c:v>Pharmacy sales</c:v>
                </c:pt>
                <c:pt idx="4">
                  <c:v>Treatment cost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69.680000000000007</c:v>
                </c:pt>
                <c:pt idx="1">
                  <c:v>69.569999999999993</c:v>
                </c:pt>
                <c:pt idx="2">
                  <c:v>12.46</c:v>
                </c:pt>
                <c:pt idx="3">
                  <c:v>19.28</c:v>
                </c:pt>
                <c:pt idx="4">
                  <c:v>107.9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8B1-460A-B11B-39CEFB2E3FB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7A8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2A4A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Appointments</c:v>
                </c:pt>
                <c:pt idx="1">
                  <c:v>Admissions</c:v>
                </c:pt>
                <c:pt idx="2">
                  <c:v>Bills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5100</c:v>
                </c:pt>
                <c:pt idx="1">
                  <c:v>2500</c:v>
                </c:pt>
                <c:pt idx="2">
                  <c:v>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AE-4A7D-93C0-3AECABAACF3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1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6902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10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206240" cy="4206240"/>
          </a:xfrm>
          <a:prstGeom prst="ellipse">
            <a:avLst/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1064240" y="4206240"/>
            <a:ext cx="2743200" cy="2743200"/>
          </a:xfrm>
          <a:prstGeom prst="ellipse">
            <a:avLst/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30936" y="722376"/>
            <a:ext cx="658368" cy="65836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870509"/>
            <a:ext cx="362102" cy="362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78638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PRESENTATION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Hospital Analytics</a:t>
            </a:r>
            <a:endParaRPr lang="en-US" sz="4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54203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9D9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SQL Data into Business Decisions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1272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FB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operations, patient flow &amp; financial performance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406908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1586484" y="425196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9928" y="4375404"/>
            <a:ext cx="301752" cy="30175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48920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731520" y="51846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the hospital business runs through data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374136" y="406908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411980" y="425196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424" y="437540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11296" y="48920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557016" y="51846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SQL dataset with 15 operational tables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99632" y="406908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237476" y="425196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rou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4375404"/>
            <a:ext cx="301752" cy="30175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36792" y="48920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382512" y="51846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Setup → Cleaning → Validation → Business Analysis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9025128" y="4069080"/>
            <a:ext cx="2624328" cy="1965960"/>
          </a:xfrm>
          <a:prstGeom prst="roundRect">
            <a:avLst>
              <a:gd name="adj" fmla="val 3721"/>
            </a:avLst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10062972" y="425196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work/icons/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86416" y="4375404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162288" y="4892040"/>
            <a:ext cx="2350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50" dirty="0"/>
          </a:p>
        </p:txBody>
      </p:sp>
      <p:sp>
        <p:nvSpPr>
          <p:cNvPr id="29" name="Text 22"/>
          <p:cNvSpPr txBox="1"/>
          <p:nvPr/>
        </p:nvSpPr>
        <p:spPr>
          <a:xfrm>
            <a:off x="9208008" y="5184648"/>
            <a:ext cx="22585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9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KPIs for management, operations and finance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DATA FOUNDATION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Represents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is not one process — it is an interconnected business ecosystem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70432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242" y="1978762"/>
            <a:ext cx="230429" cy="23042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94360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176272" y="198424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359152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980944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7754" y="1978762"/>
            <a:ext cx="230429" cy="23042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404872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3986784" y="198424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4169664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4791456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8266" y="1978762"/>
            <a:ext cx="230429" cy="23042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215384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</a:t>
            </a:r>
            <a:endParaRPr lang="en-US" sz="1100" dirty="0"/>
          </a:p>
        </p:txBody>
      </p:sp>
      <p:sp>
        <p:nvSpPr>
          <p:cNvPr id="19" name="Text 14"/>
          <p:cNvSpPr txBox="1"/>
          <p:nvPr/>
        </p:nvSpPr>
        <p:spPr>
          <a:xfrm>
            <a:off x="5797296" y="198424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5"/>
          <p:cNvSpPr/>
          <p:nvPr/>
        </p:nvSpPr>
        <p:spPr>
          <a:xfrm>
            <a:off x="5980176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601968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8778" y="1978762"/>
            <a:ext cx="230429" cy="23042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025896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/ Lab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7607808" y="198424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19"/>
          <p:cNvSpPr/>
          <p:nvPr/>
        </p:nvSpPr>
        <p:spPr>
          <a:xfrm>
            <a:off x="7790688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412480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work/icons/fileinvo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9290" y="1978762"/>
            <a:ext cx="230429" cy="23042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836408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9418320" y="1984248"/>
            <a:ext cx="182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Shape 23"/>
          <p:cNvSpPr/>
          <p:nvPr/>
        </p:nvSpPr>
        <p:spPr>
          <a:xfrm>
            <a:off x="9601200" y="1783080"/>
            <a:ext cx="1627632" cy="960120"/>
          </a:xfrm>
          <a:prstGeom prst="roundRect">
            <a:avLst>
              <a:gd name="adj" fmla="val 6667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10222992" y="1901952"/>
            <a:ext cx="384048" cy="384048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/home/claude/work/icons/mon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99802" y="1978762"/>
            <a:ext cx="230429" cy="23042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9646920" y="2350008"/>
            <a:ext cx="1536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548640" y="324612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27"/>
          <p:cNvSpPr/>
          <p:nvPr/>
        </p:nvSpPr>
        <p:spPr>
          <a:xfrm>
            <a:off x="813816" y="3493008"/>
            <a:ext cx="603504" cy="60350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6" descr="/home/claude/work/icons/hospit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9604" y="3628796"/>
            <a:ext cx="331927" cy="33192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804672" y="42062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 Data</a:t>
            </a:r>
            <a:endParaRPr lang="en-US" sz="1600" dirty="0"/>
          </a:p>
        </p:txBody>
      </p:sp>
      <p:sp>
        <p:nvSpPr>
          <p:cNvPr id="38" name="Text 29"/>
          <p:cNvSpPr txBox="1"/>
          <p:nvPr/>
        </p:nvSpPr>
        <p:spPr>
          <a:xfrm>
            <a:off x="804672" y="46177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Hospitals, Departments, Doctors, Employees, Rooms, Medicines</a:t>
            </a:r>
            <a:endParaRPr lang="en-US" sz="1250" dirty="0"/>
          </a:p>
        </p:txBody>
      </p:sp>
      <p:sp>
        <p:nvSpPr>
          <p:cNvPr id="39" name="Shape 30"/>
          <p:cNvSpPr/>
          <p:nvPr/>
        </p:nvSpPr>
        <p:spPr>
          <a:xfrm>
            <a:off x="4343400" y="3259975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1"/>
          <p:cNvSpPr/>
          <p:nvPr/>
        </p:nvSpPr>
        <p:spPr>
          <a:xfrm>
            <a:off x="4608576" y="3493008"/>
            <a:ext cx="603504" cy="603504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1" name="Image 7" descr="/home/claude/work/icons/heartbe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4364" y="3628796"/>
            <a:ext cx="331927" cy="33192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4599432" y="42062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Clinical / Operations</a:t>
            </a:r>
            <a:endParaRPr lang="en-US" sz="1600" dirty="0"/>
          </a:p>
        </p:txBody>
      </p:sp>
      <p:sp>
        <p:nvSpPr>
          <p:cNvPr id="43" name="Text 33"/>
          <p:cNvSpPr txBox="1"/>
          <p:nvPr/>
        </p:nvSpPr>
        <p:spPr>
          <a:xfrm>
            <a:off x="4599432" y="46177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Appointments, Admissions, Treatments, Laboratory</a:t>
            </a:r>
            <a:endParaRPr lang="en-US" sz="1250" dirty="0"/>
          </a:p>
        </p:txBody>
      </p:sp>
      <p:sp>
        <p:nvSpPr>
          <p:cNvPr id="44" name="Shape 34"/>
          <p:cNvSpPr/>
          <p:nvPr/>
        </p:nvSpPr>
        <p:spPr>
          <a:xfrm>
            <a:off x="8138160" y="3246120"/>
            <a:ext cx="3520440" cy="2788920"/>
          </a:xfrm>
          <a:prstGeom prst="roundRect">
            <a:avLst>
              <a:gd name="adj" fmla="val 295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35"/>
          <p:cNvSpPr/>
          <p:nvPr/>
        </p:nvSpPr>
        <p:spPr>
          <a:xfrm>
            <a:off x="8403336" y="3493008"/>
            <a:ext cx="603504" cy="60350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Image 8" descr="/home/claude/work/icons/mon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9124" y="3628796"/>
            <a:ext cx="331927" cy="33192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8394192" y="420624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</a:t>
            </a:r>
            <a:endParaRPr lang="en-US" sz="1600" dirty="0"/>
          </a:p>
        </p:txBody>
      </p:sp>
      <p:sp>
        <p:nvSpPr>
          <p:cNvPr id="48" name="Text 37"/>
          <p:cNvSpPr txBox="1"/>
          <p:nvPr/>
        </p:nvSpPr>
        <p:spPr>
          <a:xfrm>
            <a:off x="8394192" y="4617720"/>
            <a:ext cx="30083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Billing, Payments, Insurance, Pharmacy</a:t>
            </a:r>
            <a:endParaRPr lang="en-US" sz="1250" dirty="0"/>
          </a:p>
        </p:txBody>
      </p:sp>
      <p:sp>
        <p:nvSpPr>
          <p:cNvPr id="49" name="Text 3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50" name="Text 39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EXECUTIVE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Snapshot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message to stakeholders: scale, demand and money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49808" y="198424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hospi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22" y="2099462"/>
            <a:ext cx="281635" cy="28163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262432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374136" y="178308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575304" y="198424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0518" y="209946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57016" y="262432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3557016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199632" y="178308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400800" y="198424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6014" y="209946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82512" y="262432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2400" dirty="0"/>
          </a:p>
        </p:txBody>
      </p:sp>
      <p:sp>
        <p:nvSpPr>
          <p:cNvPr id="19" name="Text 14"/>
          <p:cNvSpPr txBox="1"/>
          <p:nvPr/>
        </p:nvSpPr>
        <p:spPr>
          <a:xfrm>
            <a:off x="6382512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9025128" y="178308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9226296" y="198424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clip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1510" y="209946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08008" y="262432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5,100</a:t>
            </a:r>
            <a:endParaRPr lang="en-US" sz="2400" dirty="0"/>
          </a:p>
        </p:txBody>
      </p:sp>
      <p:sp>
        <p:nvSpPr>
          <p:cNvPr id="24" name="Text 18"/>
          <p:cNvSpPr txBox="1"/>
          <p:nvPr/>
        </p:nvSpPr>
        <p:spPr>
          <a:xfrm>
            <a:off x="9208008" y="309981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48640" y="370332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749808" y="390448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/home/claude/work/icons/b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022" y="401970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1520" y="454456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2,500</a:t>
            </a:r>
            <a:endParaRPr lang="en-US" sz="24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502005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374136" y="370332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3575304" y="390448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5" descr="/home/claude/work/icons/b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90518" y="4019702"/>
            <a:ext cx="281635" cy="281635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3557016" y="454456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7,672</a:t>
            </a:r>
            <a:endParaRPr lang="en-US" sz="2400" dirty="0"/>
          </a:p>
        </p:txBody>
      </p:sp>
      <p:sp>
        <p:nvSpPr>
          <p:cNvPr id="34" name="Text 26"/>
          <p:cNvSpPr txBox="1"/>
          <p:nvPr/>
        </p:nvSpPr>
        <p:spPr>
          <a:xfrm>
            <a:off x="3557016" y="502005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Beds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199632" y="370332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28"/>
          <p:cNvSpPr/>
          <p:nvPr/>
        </p:nvSpPr>
        <p:spPr>
          <a:xfrm>
            <a:off x="6400800" y="3904488"/>
            <a:ext cx="512064" cy="512064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7" name="Image 6" descr="/home/claude/work/icons/fileinvo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014" y="4019702"/>
            <a:ext cx="281635" cy="281635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6382512" y="454456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</a:t>
            </a:r>
            <a:endParaRPr lang="en-US" sz="2400" dirty="0"/>
          </a:p>
        </p:txBody>
      </p:sp>
      <p:sp>
        <p:nvSpPr>
          <p:cNvPr id="39" name="Text 30"/>
          <p:cNvSpPr txBox="1"/>
          <p:nvPr/>
        </p:nvSpPr>
        <p:spPr>
          <a:xfrm>
            <a:off x="6382512" y="502005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9025128" y="3703320"/>
            <a:ext cx="2624328" cy="1691640"/>
          </a:xfrm>
          <a:prstGeom prst="roundRect">
            <a:avLst>
              <a:gd name="adj" fmla="val 4865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2"/>
          <p:cNvSpPr/>
          <p:nvPr/>
        </p:nvSpPr>
        <p:spPr>
          <a:xfrm>
            <a:off x="9226296" y="3904488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2" name="Image 7" descr="/home/claude/work/icons/mone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41510" y="4019702"/>
            <a:ext cx="281635" cy="281635"/>
          </a:xfrm>
          <a:prstGeom prst="rect">
            <a:avLst/>
          </a:prstGeom>
        </p:spPr>
      </p:pic>
      <p:sp>
        <p:nvSpPr>
          <p:cNvPr id="43" name="Text 33"/>
          <p:cNvSpPr txBox="1"/>
          <p:nvPr/>
        </p:nvSpPr>
        <p:spPr>
          <a:xfrm>
            <a:off x="9208008" y="4544568"/>
            <a:ext cx="2258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₹69.68M</a:t>
            </a:r>
            <a:endParaRPr lang="en-US" sz="2400" dirty="0"/>
          </a:p>
        </p:txBody>
      </p:sp>
      <p:sp>
        <p:nvSpPr>
          <p:cNvPr id="44" name="Text 34"/>
          <p:cNvSpPr txBox="1"/>
          <p:nvPr/>
        </p:nvSpPr>
        <p:spPr>
          <a:xfrm>
            <a:off x="9208008" y="5020056"/>
            <a:ext cx="22585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value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46" name="Text 36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FINANCIAL PERFORMANCE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Performance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is visible, but collection and cost control need to be read together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8580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680960" y="1783080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 txBox="1"/>
          <p:nvPr/>
        </p:nvSpPr>
        <p:spPr>
          <a:xfrm>
            <a:off x="7863840" y="1856232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₹13,935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9555480" y="1856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bill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680960" y="2679192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 txBox="1"/>
          <p:nvPr/>
        </p:nvSpPr>
        <p:spPr>
          <a:xfrm>
            <a:off x="7863840" y="2752344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₹61,323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9555480" y="275234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bill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80960" y="3575304"/>
            <a:ext cx="3977640" cy="749808"/>
          </a:xfrm>
          <a:prstGeom prst="roundRect">
            <a:avLst>
              <a:gd name="adj" fmla="val 8537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863840" y="3648456"/>
            <a:ext cx="1737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₹69.57M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9555480" y="3648456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recorded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680960" y="4517136"/>
            <a:ext cx="3977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cost is a major cost-side metric and should be monitored by department / service line.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680960" y="5385816"/>
            <a:ext cx="3977640" cy="868680"/>
          </a:xfrm>
          <a:prstGeom prst="roundRect">
            <a:avLst>
              <a:gd name="adj" fmla="val 7368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7863840" y="547725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QUESTION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7863840" y="5705856"/>
            <a:ext cx="3611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high-value treatments generating sustainable margins?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OPERATIONS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Flow &amp; Operational Demand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volume enters the hospital and where capacity is consumed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783080"/>
          <a:ext cx="6035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22008" y="184708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878" y="1949958"/>
            <a:ext cx="251460" cy="2514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16368" y="1783080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5,100 appointments represent outpatient demand.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922008" y="25603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work/icons/b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4878" y="266319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516368" y="2496312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admissions represent inpatient demand.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6922008" y="3273552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/home/claude/work/icons/hospit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4878" y="3376422"/>
            <a:ext cx="251460" cy="2514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516368" y="3209544"/>
            <a:ext cx="414223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7,672 beds provide the physical capacity layer.</a:t>
            </a:r>
            <a:endParaRPr lang="en-US" sz="1250" dirty="0"/>
          </a:p>
        </p:txBody>
      </p:sp>
      <p:sp>
        <p:nvSpPr>
          <p:cNvPr id="15" name="Text 9"/>
          <p:cNvSpPr txBox="1"/>
          <p:nvPr/>
        </p:nvSpPr>
        <p:spPr>
          <a:xfrm>
            <a:off x="6858000" y="3968496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should connect demand with bed utilization, room status, department workload and appointment status.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858000" y="4837176"/>
            <a:ext cx="4800600" cy="1051560"/>
          </a:xfrm>
          <a:prstGeom prst="roundRect">
            <a:avLst>
              <a:gd name="adj" fmla="val 6087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1"/>
          <p:cNvSpPr txBox="1"/>
          <p:nvPr/>
        </p:nvSpPr>
        <p:spPr>
          <a:xfrm>
            <a:off x="7040880" y="4928616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KPI TO BUILD</a:t>
            </a:r>
            <a:endParaRPr lang="en-US" sz="950" dirty="0"/>
          </a:p>
        </p:txBody>
      </p:sp>
      <p:sp>
        <p:nvSpPr>
          <p:cNvPr id="18" name="Text 12"/>
          <p:cNvSpPr txBox="1"/>
          <p:nvPr/>
        </p:nvSpPr>
        <p:spPr>
          <a:xfrm>
            <a:off x="7040880" y="5157216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 occupancy %, average length of stay, cancellation / no-show rate and department utilization.</a:t>
            </a:r>
            <a:endParaRPr lang="en-US" sz="11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DATA GOVERNANCE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&amp; 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decisions start with trustworthy records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77240" y="19888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8026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856232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Primary-key duplicate checks across core tables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78308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400800" y="198882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802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995160" y="1856232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/ blank value checks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85292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777240" y="30586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010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92608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Foreign-key integrity checks between patients, doctors, hospitals, departments, rooms and transactions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172200" y="285292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6400800" y="3058668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3" descr="/home/claude/work/icons/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15010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995160" y="2926080"/>
            <a:ext cx="434340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Business-rule checks: negative costs, invalid ages, invalid dates, invalid phone / email formats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548640" y="3968496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6"/>
          <p:cNvSpPr/>
          <p:nvPr/>
        </p:nvSpPr>
        <p:spPr>
          <a:xfrm>
            <a:off x="800100" y="4101084"/>
            <a:ext cx="502920" cy="50292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3" name="Image 4" descr="/home/claude/work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257" y="4214241"/>
            <a:ext cx="276606" cy="27660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4096512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FOUND IN THE DATASET</a:t>
            </a:r>
            <a:endParaRPr lang="en-US" sz="950" dirty="0"/>
          </a:p>
        </p:txBody>
      </p:sp>
      <p:sp>
        <p:nvSpPr>
          <p:cNvPr id="25" name="Text 18"/>
          <p:cNvSpPr txBox="1"/>
          <p:nvPr/>
        </p:nvSpPr>
        <p:spPr>
          <a:xfrm>
            <a:off x="1463040" y="43342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in billing / treatments / doctors / admissions; some invalid email, phone or cost fields were flagged by validation SQL.</a:t>
            </a:r>
            <a:endParaRPr lang="en-US" sz="1100" dirty="0"/>
          </a:p>
        </p:txBody>
      </p:sp>
      <p:sp>
        <p:nvSpPr>
          <p:cNvPr id="26" name="Text 19"/>
          <p:cNvSpPr txBox="1"/>
          <p:nvPr/>
        </p:nvSpPr>
        <p:spPr>
          <a:xfrm>
            <a:off x="1463040" y="4745736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structural issue: the supplied Doctors.csv has the same schema / content size as Admissions.csv, so doctor-level KPIs should be treated as unverified until the source file is corrected.</a:t>
            </a:r>
            <a:endParaRPr lang="en-US" sz="1100" dirty="0"/>
          </a:p>
        </p:txBody>
      </p:sp>
      <p:sp>
        <p:nvSpPr>
          <p:cNvPr id="27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SQL Creates Business Value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tables to stakeholder answers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 txBox="1"/>
          <p:nvPr/>
        </p:nvSpPr>
        <p:spPr>
          <a:xfrm>
            <a:off x="685800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266444" y="3118104"/>
            <a:ext cx="621792" cy="62179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0" descr="/home/claude/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47" y="3258007"/>
            <a:ext cx="341986" cy="341986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425196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tables, keys and relationships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606040" y="35661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79776" y="219456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916936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Shape 11"/>
          <p:cNvSpPr/>
          <p:nvPr/>
        </p:nvSpPr>
        <p:spPr>
          <a:xfrm>
            <a:off x="3497580" y="3118104"/>
            <a:ext cx="621792" cy="62179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1" descr="/home/claude/work/icons/clip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7483" y="3258007"/>
            <a:ext cx="341986" cy="341986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871216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980944" y="425196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/ correct invalid records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4837176" y="35661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5010912" y="219456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5148072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Shape 17"/>
          <p:cNvSpPr/>
          <p:nvPr/>
        </p:nvSpPr>
        <p:spPr>
          <a:xfrm>
            <a:off x="5728716" y="3118104"/>
            <a:ext cx="621792" cy="62179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2" descr="/home/claude/work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619" y="3258007"/>
            <a:ext cx="341986" cy="341986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102352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50" dirty="0"/>
          </a:p>
        </p:txBody>
      </p:sp>
      <p:sp>
        <p:nvSpPr>
          <p:cNvPr id="24" name="Text 19"/>
          <p:cNvSpPr txBox="1"/>
          <p:nvPr/>
        </p:nvSpPr>
        <p:spPr>
          <a:xfrm>
            <a:off x="5212080" y="425196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completeness, integrity and business rules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7068312" y="35661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242048" y="219456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2"/>
          <p:cNvSpPr txBox="1"/>
          <p:nvPr/>
        </p:nvSpPr>
        <p:spPr>
          <a:xfrm>
            <a:off x="7379208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8" name="Shape 23"/>
          <p:cNvSpPr/>
          <p:nvPr/>
        </p:nvSpPr>
        <p:spPr>
          <a:xfrm>
            <a:off x="7959852" y="3118104"/>
            <a:ext cx="621792" cy="62179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3" descr="/home/claude/work/icons/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9755" y="3258007"/>
            <a:ext cx="341986" cy="34198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333488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450" dirty="0"/>
          </a:p>
        </p:txBody>
      </p:sp>
      <p:sp>
        <p:nvSpPr>
          <p:cNvPr id="31" name="Text 25"/>
          <p:cNvSpPr txBox="1"/>
          <p:nvPr/>
        </p:nvSpPr>
        <p:spPr>
          <a:xfrm>
            <a:off x="7443216" y="425196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JOIN, GROUP BY, SUM, AVG, MAX, COUNT</a:t>
            </a:r>
            <a:endParaRPr lang="en-US" sz="1050" dirty="0"/>
          </a:p>
        </p:txBody>
      </p:sp>
      <p:sp>
        <p:nvSpPr>
          <p:cNvPr id="32" name="Text 26"/>
          <p:cNvSpPr txBox="1"/>
          <p:nvPr/>
        </p:nvSpPr>
        <p:spPr>
          <a:xfrm>
            <a:off x="9299448" y="356616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27"/>
          <p:cNvSpPr/>
          <p:nvPr/>
        </p:nvSpPr>
        <p:spPr>
          <a:xfrm>
            <a:off x="9473184" y="2194560"/>
            <a:ext cx="2057400" cy="3200400"/>
          </a:xfrm>
          <a:prstGeom prst="roundRect">
            <a:avLst>
              <a:gd name="adj" fmla="val 4000"/>
            </a:avLst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28"/>
          <p:cNvSpPr txBox="1"/>
          <p:nvPr/>
        </p:nvSpPr>
        <p:spPr>
          <a:xfrm>
            <a:off x="9610344" y="23317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9FB2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35" name="Shape 29"/>
          <p:cNvSpPr/>
          <p:nvPr/>
        </p:nvSpPr>
        <p:spPr>
          <a:xfrm>
            <a:off x="10190988" y="3118104"/>
            <a:ext cx="621792" cy="621792"/>
          </a:xfrm>
          <a:prstGeom prst="ellipse">
            <a:avLst/>
          </a:prstGeom>
          <a:solidFill>
            <a:srgbClr val="FFFFFF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4" descr="/home/claude/work/icons/bulls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0891" y="3258007"/>
            <a:ext cx="341986" cy="341986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9564624" y="3886200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450" dirty="0"/>
          </a:p>
        </p:txBody>
      </p:sp>
      <p:sp>
        <p:nvSpPr>
          <p:cNvPr id="38" name="Text 31"/>
          <p:cNvSpPr txBox="1"/>
          <p:nvPr/>
        </p:nvSpPr>
        <p:spPr>
          <a:xfrm>
            <a:off x="9674352" y="4251960"/>
            <a:ext cx="16550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E4EA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KPIs into actions</a:t>
            </a:r>
            <a:endParaRPr lang="en-US" sz="1050" dirty="0"/>
          </a:p>
        </p:txBody>
      </p:sp>
      <p:sp>
        <p:nvSpPr>
          <p:cNvPr id="39" name="Text 3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 Recommendations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management do with these insights?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58368" y="1810512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icons/co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82" y="1925726"/>
            <a:ext cx="281635" cy="2816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3736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Operations: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246120" y="173736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appointment-to-admission flow and department workload.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914400" y="2395728"/>
            <a:ext cx="1074420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58368" y="2523744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b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582" y="2638958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45059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Capacity: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3246120" y="2450592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admissions with room / bed availability and length of stay.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14400" y="3108960"/>
            <a:ext cx="1074420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58368" y="3236976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s/mone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" y="3352190"/>
            <a:ext cx="281635" cy="281635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16382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Finance:</a:t>
            </a:r>
            <a:endParaRPr lang="en-US" sz="1300" dirty="0"/>
          </a:p>
        </p:txBody>
      </p:sp>
      <p:sp>
        <p:nvSpPr>
          <p:cNvPr id="18" name="Text 13"/>
          <p:cNvSpPr txBox="1"/>
          <p:nvPr/>
        </p:nvSpPr>
        <p:spPr>
          <a:xfrm>
            <a:off x="3246120" y="3163824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billed amount vs. successful collections and unpaid / failed payments.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914400" y="3822192"/>
            <a:ext cx="1074420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58368" y="3950208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work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" y="4065422"/>
            <a:ext cx="281635" cy="28163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387705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Services: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246120" y="3877056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treatment and laboratory cost by hospital, department and doctor.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914400" y="4535424"/>
            <a:ext cx="1074420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658368" y="4663440"/>
            <a:ext cx="512064" cy="512064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work/icons/shieldal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2" y="4778654"/>
            <a:ext cx="281635" cy="28163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4590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Governance:</a:t>
            </a:r>
            <a:endParaRPr lang="en-US" sz="1300" dirty="0"/>
          </a:p>
        </p:txBody>
      </p:sp>
      <p:sp>
        <p:nvSpPr>
          <p:cNvPr id="28" name="Text 21"/>
          <p:cNvSpPr txBox="1"/>
          <p:nvPr/>
        </p:nvSpPr>
        <p:spPr>
          <a:xfrm>
            <a:off x="3246120" y="459028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Doctors.csv source issue and define mandatory fields before reporting.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48640" y="5413248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22960" y="5568696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work/icons/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30" y="5671566"/>
            <a:ext cx="251460" cy="25146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417320" y="5522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NEXT STEP</a:t>
            </a:r>
            <a:endParaRPr lang="en-US" sz="950" dirty="0"/>
          </a:p>
        </p:txBody>
      </p:sp>
      <p:sp>
        <p:nvSpPr>
          <p:cNvPr id="33" name="Text 25"/>
          <p:cNvSpPr txBox="1"/>
          <p:nvPr/>
        </p:nvSpPr>
        <p:spPr>
          <a:xfrm>
            <a:off x="1417320" y="57424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page + Operations page + Finance page + Data-quality page</a:t>
            </a:r>
            <a:endParaRPr lang="en-US" sz="12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08660" y="708660"/>
            <a:ext cx="685800" cy="6858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/home/claude/work/icons/quo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0110" y="88011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15544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STORY IN ONE SENTENCE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value of this SQL project is not the number of queries — it is the ability to connect patient activity, hospital capacity, clinical services and financial transactions into decisions.”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3886200"/>
            <a:ext cx="10607040" cy="0"/>
          </a:xfrm>
          <a:prstGeom prst="line">
            <a:avLst/>
          </a:prstGeom>
          <a:noFill/>
          <a:ln w="12700">
            <a:solidFill>
              <a:srgbClr val="3A4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548640" y="41148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FD1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STAKEHOLDERS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3891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KPI should we prioritize for the next reporting cycle?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48640" y="5074920"/>
            <a:ext cx="4123944" cy="566928"/>
          </a:xfrm>
          <a:prstGeom prst="roundRect">
            <a:avLst>
              <a:gd name="adj" fmla="val 50000"/>
            </a:avLst>
          </a:prstGeom>
          <a:solidFill>
            <a:srgbClr val="233A5E"/>
          </a:solidFill>
          <a:ln w="12700">
            <a:solidFill>
              <a:srgbClr val="3A4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777240" y="5074920"/>
            <a:ext cx="3666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 about data-quality limitations.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901184" y="5074920"/>
            <a:ext cx="3268980" cy="566928"/>
          </a:xfrm>
          <a:prstGeom prst="roundRect">
            <a:avLst>
              <a:gd name="adj" fmla="val 50000"/>
            </a:avLst>
          </a:prstGeom>
          <a:solidFill>
            <a:srgbClr val="233A5E"/>
          </a:solidFill>
          <a:ln w="12700">
            <a:solidFill>
              <a:srgbClr val="3A4C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5129784" y="5074920"/>
            <a:ext cx="28117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1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with actions, not only numbers.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01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Revenue KPI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106701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925830" y="11064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670810" y="1097280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value has the hospital billed, and what is the average bill?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COUNT(*) AS total_bills,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ROUND(SUM(total_amount), 2) AS total_billed,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ROUND(AVG(total_amount), 2) AS avg_bill,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ROUND(MAX(total_amount), 2) AS highest_bill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Billing;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gives Finance and leadership one executive view of billing volume, total value, average transaction size and the highest-value bill.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02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&amp; Admission 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5265" y="1106424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19683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119683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appointments convert into admissions?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a.appointment_id) AS appointments,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ad.admission_id) AS admissions,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ROUND(100.0 * COUNT(DISTINCT ad.admission_id)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NULLIF(COUNT(DISTINCT a.appointment_id), 0), 2) AS admission_rate_pct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Appointments a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Admissions ad ON a.patient_id = ad.patient_id;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connects demand with inpatient activity. Management can use the conversion rate to investigate patient flow, capacity planning and operational bottlenecks.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03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by Department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2823" y="1078535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59536" y="1060247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02412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departments generate the most billing value?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d.department_name,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COUNT(DISTINCT b.bill_id) AS bills,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ROUND(SUM(b.total_amount), 2) AS revenue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Billing b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Admissions a ON b.admission_id = a.admission_id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Departments d ON a.department_id = d.department_id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d.department_name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ranking helps management identify high-value service areas and compare business performance across departments.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04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Collection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9120" y="1119683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19683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105233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of the billed value has actually been collected?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ROUND(SUM(b.total_amount), 2) AS billed_value,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ROUND(SUM(COALESCE(p.amount_paid, 0)), 2) AS collected_value,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ROUND(100.0 * SUM(COALESCE(p.amount_paid, 0))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 NULLIF(SUM(b.total_amount), 0), 2) AS collection_rate_pct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Billing b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Payments p ON b.bill_id = p.bill_id;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separates revenue recognition from cash collection and gives Finance a practical collection KPI.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05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0481" y="1078992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119683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091378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management trust the patient and transaction data?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Missing / invalid values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missing_phone FROM Patients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phone IS NULL OR TRIM(phone) = '';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Duplicate business keys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patient_id, COUNT(*) AS duplicate_count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Patients GROUP BY patient_id HAVING COUNT(*) &gt; 1;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Orphan records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orphan_admissions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Admissions a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Patients p ON a.patient_id = p.patient_id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p.patient_id IS NULL;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 a business control. Duplicate, missing and orphan records can create incorrect KPIs, so validation should happen before every executive report.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QUERY 06 · PROFESSIONAL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vs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79120" y="1092708"/>
            <a:ext cx="11091672" cy="530352"/>
          </a:xfrm>
          <a:prstGeom prst="roundRect">
            <a:avLst>
              <a:gd name="adj" fmla="val 10345"/>
            </a:avLst>
          </a:prstGeom>
          <a:solidFill>
            <a:srgbClr val="E4F1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10972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2894215" y="1124573"/>
            <a:ext cx="8595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service areas should management investigate for profitability?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00784"/>
            <a:ext cx="11091672" cy="3657600"/>
          </a:xfrm>
          <a:prstGeom prst="roundRect">
            <a:avLst>
              <a:gd name="adj" fmla="val 2000"/>
            </a:avLst>
          </a:prstGeom>
          <a:solidFill>
            <a:srgbClr val="16233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859536" y="1874520"/>
            <a:ext cx="384048" cy="384048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947" y="1960931"/>
            <a:ext cx="211226" cy="21122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8836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D1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395728"/>
            <a:ext cx="10424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d.department_name,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ROUND(SUM(t.treatment_cost), 2) AS treatment_cost,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ROUND(SUM(b.total_amount), 2) AS billed_revenue,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ROUND(SUM(b.total_amount) - SUM(t.treatment_cost), 2) AS contribution_gap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Treatments t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Admissions a ON t.admission_id = a.admission_id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Departments d ON a.department_id = d.department_id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LEFT JOIN Billing b ON a.admission_id = b.admission_id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d.department_name</a:t>
            </a:r>
            <a:endParaRPr lang="en-US" sz="11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7ED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contribution_gap DESC;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62495" y="5522976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FDEA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822960" y="5724144"/>
            <a:ext cx="457200" cy="457200"/>
          </a:xfrm>
          <a:prstGeom prst="ellipse">
            <a:avLst/>
          </a:prstGeom>
          <a:solidFill>
            <a:srgbClr val="E860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ightbul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" y="5827014"/>
            <a:ext cx="251460" cy="25146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417320" y="56144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2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TAKEAWAY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1417320" y="582472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management-level analysis: compare service-line billing with treatment cost, then investigate departments with large positive or negative gaps.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60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COMMUNICATION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Present the SQL to Stakeholders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5214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→ Insight → Decision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0" cy="3657600"/>
          </a:xfrm>
          <a:prstGeom prst="line">
            <a:avLst/>
          </a:prstGeom>
          <a:noFill/>
          <a:ln w="254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7647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business question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937760" y="1728216"/>
            <a:ext cx="6492240" cy="694944"/>
          </a:xfrm>
          <a:prstGeom prst="roundRect">
            <a:avLst>
              <a:gd name="adj" fmla="val 789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5166360" y="172821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department generates the highest billing?”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 txBox="1"/>
          <p:nvPr/>
        </p:nvSpPr>
        <p:spPr>
          <a:xfrm>
            <a:off x="640080" y="2697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791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JOIN in business language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37760" y="2642616"/>
            <a:ext cx="6492240" cy="694944"/>
          </a:xfrm>
          <a:prstGeom prst="roundRect">
            <a:avLst>
              <a:gd name="adj" fmla="val 789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 txBox="1"/>
          <p:nvPr/>
        </p:nvSpPr>
        <p:spPr>
          <a:xfrm>
            <a:off x="5166360" y="264261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connect billing to admissions and then to the department master.”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4008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5935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KPI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937760" y="3557016"/>
            <a:ext cx="6492240" cy="694944"/>
          </a:xfrm>
          <a:prstGeom prst="roundRect">
            <a:avLst>
              <a:gd name="adj" fmla="val 789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5166360" y="355701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collection rate, admission rate, cost gap, etc.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526280"/>
            <a:ext cx="548640" cy="54864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 txBox="1"/>
          <p:nvPr/>
        </p:nvSpPr>
        <p:spPr>
          <a:xfrm>
            <a:off x="640080" y="4526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5079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implication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937760" y="4471416"/>
            <a:ext cx="6492240" cy="694944"/>
          </a:xfrm>
          <a:prstGeom prst="roundRect">
            <a:avLst>
              <a:gd name="adj" fmla="val 789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 txBox="1"/>
          <p:nvPr/>
        </p:nvSpPr>
        <p:spPr>
          <a:xfrm>
            <a:off x="5166360" y="447141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department deserves a deeper performance review.”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" y="544068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 txBox="1"/>
          <p:nvPr/>
        </p:nvSpPr>
        <p:spPr>
          <a:xfrm>
            <a:off x="640080" y="5440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422392"/>
            <a:ext cx="42062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with an action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4937760" y="5385816"/>
            <a:ext cx="6492240" cy="694944"/>
          </a:xfrm>
          <a:prstGeom prst="roundRect">
            <a:avLst>
              <a:gd name="adj" fmla="val 7895"/>
            </a:avLst>
          </a:prstGeom>
          <a:solidFill>
            <a:srgbClr val="F7F9FB"/>
          </a:solidFill>
          <a:ln w="12700">
            <a:solidFill>
              <a:srgbClr val="E1E7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 txBox="1"/>
          <p:nvPr/>
        </p:nvSpPr>
        <p:spPr>
          <a:xfrm>
            <a:off x="5166360" y="5385816"/>
            <a:ext cx="6035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“Next, we should analyze volume, cost and margin together.”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828800"/>
            <a:ext cx="4754880" cy="4754880"/>
          </a:xfrm>
          <a:prstGeom prst="ellipse">
            <a:avLst/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1828800" y="4754880"/>
            <a:ext cx="4206240" cy="4206240"/>
          </a:xfrm>
          <a:prstGeom prst="ellipse">
            <a:avLst/>
          </a:prstGeom>
          <a:solidFill>
            <a:srgbClr val="233A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1508" y="1897380"/>
            <a:ext cx="868680" cy="86868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work/icons/handsh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961" y="2092833"/>
            <a:ext cx="477774" cy="477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0632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0" y="3977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9D9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— Turning SQL Data into Business Decisions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Analytics  •  Stakeholder Review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7295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480</TotalTime>
  <Words>1698</Words>
  <Application>Microsoft Office PowerPoint</Application>
  <PresentationFormat>Widescreen</PresentationFormat>
  <Paragraphs>292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ABDUL KATHAR M A</cp:lastModifiedBy>
  <cp:revision>3</cp:revision>
  <dcterms:created xsi:type="dcterms:W3CDTF">2026-09-01T03:25:34Z</dcterms:created>
  <dcterms:modified xsi:type="dcterms:W3CDTF">2026-09-01T11:32:51Z</dcterms:modified>
</cp:coreProperties>
</file>