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Membership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2F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FB8-46C8-8D89-5268E7459BC0}"/>
              </c:ext>
            </c:extLst>
          </c:dPt>
          <c:dPt>
            <c:idx val="1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B8-46C8-8D89-5268E7459BC0}"/>
              </c:ext>
            </c:extLst>
          </c:dPt>
          <c:dPt>
            <c:idx val="2"/>
            <c:bubble3D val="0"/>
            <c:spPr>
              <a:solidFill>
                <a:srgbClr val="D98E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B8-46C8-8D89-5268E7459BC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FB8-46C8-8D89-5268E7459BC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FB8-46C8-8D89-5268E7459BC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FB8-46C8-8D89-5268E7459BC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Individual</c:v>
                </c:pt>
                <c:pt idx="1">
                  <c:v>Family</c:v>
                </c:pt>
                <c:pt idx="2">
                  <c:v>Corporate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1300</c:v>
                </c:pt>
                <c:pt idx="1">
                  <c:v>800</c:v>
                </c:pt>
                <c:pt idx="2">
                  <c:v>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B8-46C8-8D89-5268E7459B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Consultations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2F4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In-clinic</c:v>
                </c:pt>
                <c:pt idx="1">
                  <c:v>Telemedicine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3800</c:v>
                </c:pt>
                <c:pt idx="1">
                  <c:v>2200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0F-4C6C-98BE-5EBDDF578B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B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Consultations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C4-49C5-9805-B5C7B11C9561}"/>
              </c:ext>
            </c:extLst>
          </c:dPt>
          <c:dPt>
            <c:idx val="1"/>
            <c:invertIfNegative val="0"/>
            <c:bubble3D val="0"/>
            <c:spPr>
              <a:solidFill>
                <a:srgbClr val="D98E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C4-49C5-9805-B5C7B11C9561}"/>
              </c:ext>
            </c:extLst>
          </c:dPt>
          <c:dPt>
            <c:idx val="2"/>
            <c:invertIfNegative val="0"/>
            <c:bubble3D val="0"/>
            <c:spPr>
              <a:solidFill>
                <a:srgbClr val="B2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C4-49C5-9805-B5C7B11C9561}"/>
              </c:ext>
            </c:extLst>
          </c:dPt>
          <c:dPt>
            <c:idx val="3"/>
            <c:invertIfNegative val="0"/>
            <c:bubble3D val="0"/>
            <c:spPr>
              <a:solidFill>
                <a:srgbClr val="9AA9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9C4-49C5-9805-B5C7B11C956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A2F4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Completed</c:v>
                </c:pt>
                <c:pt idx="1">
                  <c:v>Cancelled</c:v>
                </c:pt>
                <c:pt idx="2">
                  <c:v>No-show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4400</c:v>
                </c:pt>
                <c:pt idx="1">
                  <c:v>530</c:v>
                </c:pt>
                <c:pt idx="2">
                  <c:v>476</c:v>
                </c:pt>
                <c:pt idx="3">
                  <c:v>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9C4-49C5-9805-B5C7B11C95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D6B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Specialists</c:v>
                </c:pt>
              </c:strCache>
            </c:strRef>
          </c:tx>
          <c:spPr>
            <a:solidFill>
              <a:srgbClr val="0A2F4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A2F4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Gen. Medicine</c:v>
                </c:pt>
                <c:pt idx="1">
                  <c:v>Cardiology</c:v>
                </c:pt>
                <c:pt idx="2">
                  <c:v>Dermatology</c:v>
                </c:pt>
                <c:pt idx="3">
                  <c:v>Pediatrics</c:v>
                </c:pt>
                <c:pt idx="4">
                  <c:v>Orthopedics</c:v>
                </c:pt>
                <c:pt idx="5">
                  <c:v>ENT</c:v>
                </c:pt>
                <c:pt idx="6">
                  <c:v>Gynecology</c:v>
                </c:pt>
                <c:pt idx="7">
                  <c:v>Neurology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</c:v>
                </c:pt>
                <c:pt idx="1">
                  <c:v>29</c:v>
                </c:pt>
                <c:pt idx="2">
                  <c:v>27</c:v>
                </c:pt>
                <c:pt idx="3">
                  <c:v>24</c:v>
                </c:pt>
                <c:pt idx="4">
                  <c:v>21</c:v>
                </c:pt>
                <c:pt idx="5">
                  <c:v>19</c:v>
                </c:pt>
                <c:pt idx="6">
                  <c:v>17</c:v>
                </c:pt>
                <c:pt idx="7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BE-455B-BC74-447DCA3FA1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D6B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Payments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57-4A9C-8645-75176685CFCA}"/>
              </c:ext>
            </c:extLst>
          </c:dPt>
          <c:dPt>
            <c:idx val="1"/>
            <c:invertIfNegative val="0"/>
            <c:bubble3D val="0"/>
            <c:spPr>
              <a:solidFill>
                <a:srgbClr val="B2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57-4A9C-8645-75176685CFCA}"/>
              </c:ext>
            </c:extLst>
          </c:dPt>
          <c:dPt>
            <c:idx val="2"/>
            <c:invertIfNegative val="0"/>
            <c:bubble3D val="0"/>
            <c:spPr>
              <a:solidFill>
                <a:srgbClr val="D98E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157-4A9C-8645-75176685CF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A2F4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Failed</c:v>
                </c:pt>
                <c:pt idx="2">
                  <c:v>Pending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5422</c:v>
                </c:pt>
                <c:pt idx="1">
                  <c:v>426</c:v>
                </c:pt>
                <c:pt idx="2">
                  <c:v>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157-4A9C-8645-75176685CF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B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Claims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99C-4DF6-9D92-3F8BE7A8008F}"/>
              </c:ext>
            </c:extLst>
          </c:dPt>
          <c:dPt>
            <c:idx val="1"/>
            <c:invertIfNegative val="0"/>
            <c:bubble3D val="0"/>
            <c:spPr>
              <a:solidFill>
                <a:srgbClr val="D98E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99C-4DF6-9D92-3F8BE7A8008F}"/>
              </c:ext>
            </c:extLst>
          </c:dPt>
          <c:dPt>
            <c:idx val="2"/>
            <c:invertIfNegative val="0"/>
            <c:bubble3D val="0"/>
            <c:spPr>
              <a:solidFill>
                <a:srgbClr val="B23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99C-4DF6-9D92-3F8BE7A8008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A2F4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Approved</c:v>
                </c:pt>
                <c:pt idx="1">
                  <c:v>Pending</c:v>
                </c:pt>
                <c:pt idx="2">
                  <c:v>Rejected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471</c:v>
                </c:pt>
                <c:pt idx="2">
                  <c:v>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99C-4DF6-9D92-3F8BE7A800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B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747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123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0D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123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OPERATIONS &amp; BUSINESS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HealthPlus Care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310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stakeholder presentation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8221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operational data  →  business insights  →  decisions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989320"/>
            <a:ext cx="100584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Abdul Kathar M 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Analyst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management needs to understand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business problem, not the SQL.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is a digital representation of how the healthcare business runs.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the tool that converts that operational data into decisions.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operates across members, clinics, specialists, consultations, labs, billing, payments, claims and packages.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 is not simply “what happened?” — it is “where is performance strong, where is leakage, and what should we improve?”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178040" y="1691640"/>
            <a:ext cx="4480560" cy="4480560"/>
          </a:xfrm>
          <a:prstGeom prst="roundRect">
            <a:avLst>
              <a:gd name="adj" fmla="val 1837"/>
            </a:avLst>
          </a:prstGeom>
          <a:solidFill>
            <a:srgbClr val="E4F3F2"/>
          </a:solidFill>
          <a:ln w="12700">
            <a:solidFill>
              <a:srgbClr val="E4F3F2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TAKEAWAY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5236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265176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reliable SQL analysis that connects operational activity with revenue, service utilization, customer experience and risk.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5236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outcome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52360" y="4297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actions for operations, finance, clinical teams and customer experience.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 |  SQL Business Analysis  | 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6473952"/>
            <a:ext cx="292608" cy="29260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HealthPlus Business Runs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flow represented in the database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344168" y="2020824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44168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9631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plans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42032" y="23317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61488" y="187452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557016" y="2020824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57016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52928" y="249631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852928" y="2788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/ telemedicine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23317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74336" y="187452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769864" y="2020824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769864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65776" y="249631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065776" y="2788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+ prescription + lab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67728" y="23317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187184" y="187452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982712" y="2020824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982712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78624" y="249631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78624" y="2788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→ payment → claims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80576" y="23317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400032" y="187452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0195560" y="2020824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195560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491472" y="2496312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491472" y="27889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ratings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703320"/>
            <a:ext cx="1109167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6868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relationships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68680" y="4279392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connect to consultations, subscriptions, bills, payments, claims, lab tests and feedback.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connect to specialists, consultations, lab tests and staff.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structure lets us analyze the same customer journey from both clinical and financial perspectives.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 |  SQL Business Analysis  |  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6473952"/>
            <a:ext cx="292608" cy="29260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EXECUTIVE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KPI Snapshot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dataset volume and financial picture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1837944"/>
            <a:ext cx="82296" cy="640080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96112" y="1801368"/>
            <a:ext cx="306324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96112" y="2232599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2452055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database population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70248" y="1691640"/>
            <a:ext cx="35661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34840" y="1837944"/>
            <a:ext cx="82296" cy="640080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1801368"/>
            <a:ext cx="306324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617720" y="2232599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2452055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locations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91856" y="1691640"/>
            <a:ext cx="35661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156448" y="1837944"/>
            <a:ext cx="82296" cy="640080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39328" y="1801368"/>
            <a:ext cx="306324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339328" y="2232599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39328" y="2452055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workforce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779776"/>
            <a:ext cx="35661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3232" y="2926080"/>
            <a:ext cx="82296" cy="640080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6112" y="2889504"/>
            <a:ext cx="306324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96112" y="3320735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6112" y="3540191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interactions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70248" y="2779776"/>
            <a:ext cx="35661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434840" y="2926080"/>
            <a:ext cx="82296" cy="640080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17720" y="2889504"/>
            <a:ext cx="306324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₹3,115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4617720" y="3320735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Bill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17720" y="3540191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average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91856" y="2779776"/>
            <a:ext cx="35661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156448" y="2926080"/>
            <a:ext cx="82296" cy="640080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339328" y="2889504"/>
            <a:ext cx="306324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₹18.69M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8339328" y="3320735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Amount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39328" y="3540191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total from billing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3867912"/>
            <a:ext cx="35661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13232" y="4014216"/>
            <a:ext cx="82296" cy="640080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96112" y="3977640"/>
            <a:ext cx="306324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₹18.69M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896112" y="4408871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96112" y="4628327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records total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70248" y="3867912"/>
            <a:ext cx="35661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434840" y="4014216"/>
            <a:ext cx="82296" cy="640080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617720" y="3977640"/>
            <a:ext cx="306324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₹14.24M</a:t>
            </a:r>
            <a:endParaRPr lang="en-US" sz="2500" dirty="0"/>
          </a:p>
        </p:txBody>
      </p:sp>
      <p:sp>
        <p:nvSpPr>
          <p:cNvPr id="43" name="Text 41"/>
          <p:cNvSpPr/>
          <p:nvPr/>
        </p:nvSpPr>
        <p:spPr>
          <a:xfrm>
            <a:off x="4617720" y="4408871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617720" y="4628327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amount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991856" y="3867912"/>
            <a:ext cx="35661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156448" y="4014216"/>
            <a:ext cx="82296" cy="640080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339328" y="3977640"/>
            <a:ext cx="3063240" cy="484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₹8.23M</a:t>
            </a:r>
            <a:endParaRPr lang="en-US" sz="2500" dirty="0"/>
          </a:p>
        </p:txBody>
      </p:sp>
      <p:sp>
        <p:nvSpPr>
          <p:cNvPr id="48" name="Text 46"/>
          <p:cNvSpPr/>
          <p:nvPr/>
        </p:nvSpPr>
        <p:spPr>
          <a:xfrm>
            <a:off x="8339328" y="4408871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Revenue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339328" y="4628327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 cost total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BF0DF"/>
          </a:solidFill>
          <a:ln w="12700">
            <a:solidFill>
              <a:srgbClr val="FBF0DF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41248" y="5056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DATA-QUALITY FLAG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841248" y="5321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billing rows have negative total_amount, totaling ₹261,191 in negative values.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present the raw revenue KPI as final management revenue until those rows are validated — this is an analyst responsibility, not a cosmetic issue.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 |  SQL Business Analysis  |  4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6473952"/>
            <a:ext cx="292608" cy="29260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5720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UTILIZATION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Service Utilization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service and how care is delivered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by Membership Type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148840"/>
          <a:ext cx="50749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1691640"/>
            <a:ext cx="5559552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5508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Mode</a:t>
            </a:r>
            <a:endParaRPr lang="en-US" sz="12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217920" y="2194560"/>
          <a:ext cx="5257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2578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4F3F2"/>
          </a:solidFill>
          <a:ln w="12700">
            <a:solidFill>
              <a:srgbClr val="E4F3F2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22960" y="53949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TAKEAWAY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960" y="561441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is the largest segment, followed by Family; Corporate contributes a meaningful member base.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126480" y="5614416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In-clinic is the majority mode, but telemedicine is already a substantial channel — digital care deserves operational attention.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 |  SQL Business Analysis  |  5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" y="6473952"/>
            <a:ext cx="292608" cy="29260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demand and service reliability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Status (n = 6,000)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194560"/>
          <a:ext cx="50749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1691640"/>
            <a:ext cx="5559552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55080" y="1874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Specializations by Specialist Count</a:t>
            </a:r>
            <a:endParaRPr lang="en-US" sz="12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217920" y="2194560"/>
          <a:ext cx="52578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2578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4F3F2"/>
          </a:solidFill>
          <a:ln w="12700">
            <a:solidFill>
              <a:srgbClr val="E4F3F2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22960" y="53949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IMPLICATION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960" y="561441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and no-shows are operational leakage. Track them by clinic, specialist, mode and reason to identify preventable capacity loss.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 |  SQL Business Analysis  |  6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6473952"/>
            <a:ext cx="292608" cy="29260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FINANCE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Finance, Payments &amp; Claims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realization and financial control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(n = 6,000)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194560"/>
          <a:ext cx="50749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080760" y="1691640"/>
            <a:ext cx="5559552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5508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by Status (n = 1,800)</a:t>
            </a:r>
            <a:endParaRPr lang="en-US" sz="12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217920" y="2194560"/>
          <a:ext cx="52578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2578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E4F3F2"/>
          </a:solidFill>
          <a:ln w="12700">
            <a:solidFill>
              <a:srgbClr val="E4F3F2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22960" y="53949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SIGNALS &amp; ACTION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960" y="561441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total equals the billing total in this dataset — useful for reconciliation but should still be validated at bill level. Action: investigate failed payments and aging pending claims to reduce cash-flow friction.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 |  SQL Business Analysis  |  7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6473952"/>
            <a:ext cx="292608" cy="29260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 &amp; Clinical Support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labs and continuity of care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2432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3232" y="1837944"/>
            <a:ext cx="82296" cy="850392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96112" y="180136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3.80 / 5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96112" y="2354580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257403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records: 2,500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62432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502152" y="1837944"/>
            <a:ext cx="82296" cy="850392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85032" y="180136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3,500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3685032" y="2354580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85032" y="257403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recorded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691640"/>
            <a:ext cx="262432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91072" y="1837944"/>
            <a:ext cx="82296" cy="850392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73952" y="180136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473952" y="2354580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73952" y="257403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subscriptions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15400" y="1691640"/>
            <a:ext cx="2624328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079992" y="1837944"/>
            <a:ext cx="82296" cy="850392"/>
          </a:xfrm>
          <a:prstGeom prst="roundRect">
            <a:avLst>
              <a:gd name="adj" fmla="val 22222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262872" y="180136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5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262872" y="2354580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62872" y="2574036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11091672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" y="3291840"/>
            <a:ext cx="10424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is below a perfect 5, so the feedback table should be used to identify recurring service issues.</a:t>
            </a:r>
            <a:endParaRPr lang="en-US" sz="145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activity is a significant operational and revenue stream; monitor completion, cancellations and pending tests.</a:t>
            </a:r>
            <a:endParaRPr lang="en-US" sz="145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subscriptions create an opportunity to study retention, expiry and payment status.</a:t>
            </a:r>
            <a:endParaRPr lang="en-US" sz="145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link clinical activity back to consultations and specialists, enabling provider-level analysis.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 |  SQL Business Analysis  |  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6473952"/>
            <a:ext cx="292608" cy="29260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Governance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senior analyst checks before publishing KPIs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layer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1691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blanks, standardize categories, convert invalid values to NULL and correct inconsistent labels.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2374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4780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layer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023360" y="247802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primary keys, missing values, invalid dates, invalid phone/email formats and broken foreign-key references.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finding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023360" y="326440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total_amount exists in 84 raw billing rows. This must be investigated before using revenue for executive decisions.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096512"/>
            <a:ext cx="384048" cy="384048"/>
          </a:xfrm>
          <a:prstGeom prst="ellipse">
            <a:avLst/>
          </a:prstGeom>
          <a:solidFill>
            <a:srgbClr val="0A2F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050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023360" y="405079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validated reporting layer and document business rules for revenue, successful payments, claims and active members.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74336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0A2F4E"/>
          </a:solidFill>
          <a:ln w="12700">
            <a:solidFill>
              <a:srgbClr val="0A2F4E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" y="51846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“Data quality is part of the analysis. A beautiful dashboard built on an invalid KPI is still a bad business decision.”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579729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Senior-analyst message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 |  SQL Business Analysis  |  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473952"/>
            <a:ext cx="292608" cy="29260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ACTION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SQL findings into business action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89280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18379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84 negative billing records and establish a reconciled revenue KPI.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382512" y="189280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82512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22592" y="183794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22592" y="214884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no-shows and cancellations by monitoring clinic, specialist and appointment patterns.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37413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33192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Care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71600" y="3630168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telemedicine vs in-clinic completion, satisfaction and payment outcomes.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3172968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382512" y="337413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82512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22592" y="33192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022592" y="3630168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pending / rejected claims and measure turnaround time by insurance provider.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654296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31520" y="485546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3152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371600" y="48006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Growth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371600" y="511149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members by Individual, Family and Corporate; measure package subscription retention.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99632" y="4654296"/>
            <a:ext cx="5440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82512" y="485546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82512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022592" y="48006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022592" y="511149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low-rating feedback by clinic, specialist, mode and reason for visit.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 |  SQL Business Analysis  |  10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6473952"/>
            <a:ext cx="292608" cy="29260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SQL BEHIND THE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KPI Queries — Foundations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queries every KPI on this deck traces back to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23A5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94944" y="1728216"/>
            <a:ext cx="82296" cy="1892808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59536" y="1691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1965960"/>
            <a:ext cx="31089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SUM(total_amount) AS total_revenue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billing;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270248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23A5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16552" y="1728216"/>
            <a:ext cx="82296" cy="1892808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81144" y="1691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mix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81144" y="1965960"/>
            <a:ext cx="31089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consultation_mode, COUNT(*) AS total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consultations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consultation_mode;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991856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23A5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138160" y="1728216"/>
            <a:ext cx="82296" cy="1892808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302752" y="1691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breakdown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02752" y="1965960"/>
            <a:ext cx="31089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payment_status, COUNT(*) AS total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payments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payment_status;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2409444" y="3931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23A5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555748" y="4059936"/>
            <a:ext cx="82296" cy="1892808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20340" y="4023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specializations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20340" y="4297680"/>
            <a:ext cx="31089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specialization,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COUNT(*) AS total_specialists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specialists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specialization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total_specialists DESC;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131052" y="3931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23A5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277356" y="4059936"/>
            <a:ext cx="82296" cy="1892808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41948" y="4023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feedback rating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1948" y="4297680"/>
            <a:ext cx="31089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AVG(rating) AS average_rating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feedback;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 |  SQL Business Analysis  |  11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6473952"/>
            <a:ext cx="292608" cy="29260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SQL BEHIND THE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KPI Queries — Business &amp; Risk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queries that turn each recommendation into a measurable KPI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23A5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94944" y="1728216"/>
            <a:ext cx="82296" cy="1892808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59536" y="1691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revenue (excl. bad rows)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" y="1965960"/>
            <a:ext cx="31089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SUM(total_amount) AS validated_revenue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billing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total_amount &gt; 0;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270248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23A5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416552" y="1728216"/>
            <a:ext cx="82296" cy="1892808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81144" y="1691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rate by clinic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81144" y="1965960"/>
            <a:ext cx="31089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clinic_id,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ROUND(100.0*SUM(CASE WHEN status IN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('cancelled','no_show') THEN 1 ELSE 0 END)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/COUNT(*),2) AS leakage_rate_pct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consultations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clinic_id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leakage_rate_pct DESC;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991856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23A5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138160" y="1728216"/>
            <a:ext cx="82296" cy="1892808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302752" y="1691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vs in-clinic completion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02752" y="1965960"/>
            <a:ext cx="31089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consultation_mode,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ROUND(100.0*SUM(CASE WHEN status='completed'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1 ELSE 0 END)/COUNT(*),2) AS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completion_rate_pct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consultations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consultation_mode;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23A5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94944" y="4059936"/>
            <a:ext cx="82296" cy="1892808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59536" y="4023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aging by provider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9536" y="4297680"/>
            <a:ext cx="31089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insurance_provider,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pending_claims,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ROUND(AVG(DATEDIFF(CURRENT_DATE,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claim_date)),1) AS avg_days_pending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claims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claim_status='pending'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insurance_provider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pending_claims DESC;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270248" y="3931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23A5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416552" y="4059936"/>
            <a:ext cx="82296" cy="1892808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81144" y="4023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&amp; subscription retention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81144" y="4297680"/>
            <a:ext cx="31089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m.membership_type,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COUNT(DISTINCT m.member_id) AS members,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s.subscription_status='active'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1 ELSE 0 END) AS active_subscriptions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members m JOIN subscriptions s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m.member_id = s.member_id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m.membership_type;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991856" y="3931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23A5C"/>
          </a:solidFill>
          <a:ln/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138160" y="4059936"/>
            <a:ext cx="82296" cy="1892808"/>
          </a:xfrm>
          <a:prstGeom prst="roundRect">
            <a:avLst>
              <a:gd name="adj" fmla="val 22222"/>
            </a:avLst>
          </a:prstGeom>
          <a:solidFill>
            <a:srgbClr val="D98E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302752" y="4023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Low-rating feedback hotspots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02752" y="4297680"/>
            <a:ext cx="310896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clinic_id, specialist_id,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ROUND(AVG(rating),2) AS avg_rating,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feedback_count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feedback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rating &lt;= 2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clinic_id, specialist_id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feedback_count DESC</a:t>
            </a:r>
            <a:endParaRPr lang="en-US" sz="10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EAF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D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 |  SQL Business Analysis  |  12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6473952"/>
            <a:ext cx="292608" cy="292608"/>
          </a:xfrm>
          <a:prstGeom prst="ellipse">
            <a:avLst/>
          </a:prstGeom>
          <a:solidFill>
            <a:srgbClr val="E4F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23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424160" y="4754880"/>
            <a:ext cx="3291840" cy="3291840"/>
          </a:xfrm>
          <a:prstGeom prst="ellipse">
            <a:avLst/>
          </a:prstGeom>
          <a:solidFill>
            <a:srgbClr val="0D3A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594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89611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Want Stakeholders to Take Away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has a connected operational dataset covering the full journey from member registration to care, billing, payment and feedback.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helps us move from raw transactions to measurable business performance.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next step is not more queries alone — it is a governed reporting layer with validated KPIs and repeatable dashboards.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analyst, my role is to connect data quality + business context + insight + action.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0332720" cy="1600200"/>
          </a:xfrm>
          <a:prstGeom prst="roundRect">
            <a:avLst>
              <a:gd name="adj" fmla="val 5143"/>
            </a:avLst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88720" y="475488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8FD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“Today I have shown not only what the data says, but how the data represents the business — and where analytics can help management make better decisions.”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" y="6528816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Care  |  SQL Business Analysis  |  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6473952"/>
            <a:ext cx="292608" cy="292608"/>
          </a:xfrm>
          <a:prstGeom prst="ellipse">
            <a:avLst/>
          </a:prstGeom>
          <a:solidFill>
            <a:srgbClr val="1B4A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1600</Words>
  <Application>Microsoft Office PowerPoint</Application>
  <PresentationFormat>Widescreen</PresentationFormat>
  <Paragraphs>274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HealthPlus Care | SQL Business Analysis</dc:title>
  <dc:subject>PptxGenJS Presentation</dc:subject>
  <dc:creator>Abdul Kathar M A</dc:creator>
  <cp:lastModifiedBy>ABDUL KATHAR M A</cp:lastModifiedBy>
  <cp:revision>1</cp:revision>
  <dcterms:created xsi:type="dcterms:W3CDTF">2026-09-04T04:51:48Z</dcterms:created>
  <dcterms:modified xsi:type="dcterms:W3CDTF">2026-09-04T05:10:09Z</dcterms:modified>
</cp:coreProperties>
</file>